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326151-D0A4-424F-AE86-B165D38FC5CE}" type="datetimeFigureOut">
              <a:rPr lang="es-AR" smtClean="0"/>
              <a:t>5/8/2026</a:t>
            </a:fld>
            <a:endParaRPr lang="es-AR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121D10-025E-4FAA-AB85-A98F765075B8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19846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noProof="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121D10-025E-4FAA-AB85-A98F765075B8}" type="slidenum">
              <a:rPr lang="es-AR" smtClean="0"/>
              <a:t>6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3083171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" Type="http://schemas.openxmlformats.org/officeDocument/2006/relationships/image" Target="../media/image1.pn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lipse 9">
            <a:extLst>
              <a:ext uri="{FF2B5EF4-FFF2-40B4-BE49-F238E27FC236}">
                <a16:creationId xmlns:a16="http://schemas.microsoft.com/office/drawing/2014/main" id="{BEAB0249-C1BB-1997-945C-AE38680EBB95}"/>
              </a:ext>
            </a:extLst>
          </p:cNvPr>
          <p:cNvSpPr/>
          <p:nvPr/>
        </p:nvSpPr>
        <p:spPr>
          <a:xfrm>
            <a:off x="4535299" y="2086378"/>
            <a:ext cx="3121402" cy="2794262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099470"/>
            <a:ext cx="9525000" cy="600075"/>
          </a:xfrm>
          <a:prstGeom prst="rect">
            <a:avLst/>
          </a:prstGeom>
        </p:spPr>
      </p:pic>
      <p:pic>
        <p:nvPicPr>
          <p:cNvPr id="4" name="Picture 3" descr="image.png"/>
          <p:cNvPicPr preferRelativeResize="0"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0"/>
            <a:ext cx="12831097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205954"/>
            <a:ext cx="2133600" cy="2762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1710779"/>
            <a:ext cx="10001250" cy="12266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830"/>
              </a:lnSpc>
            </a:pPr>
            <a:r>
              <a:rPr sz="4200" b="1" i="0" u="none" dirty="0">
                <a:solidFill>
                  <a:srgbClr val="FFFFFF"/>
                </a:solidFill>
                <a:latin typeface="Poppins"/>
              </a:rPr>
              <a:t>Análisis del Mercado Laboral </a:t>
            </a:r>
            <a:r>
              <a:rPr lang="es-AR" sz="4200" b="1" i="0" u="none" dirty="0">
                <a:solidFill>
                  <a:srgbClr val="FFFFFF"/>
                </a:solidFill>
                <a:latin typeface="Poppins"/>
              </a:rPr>
              <a:t>de </a:t>
            </a:r>
            <a:r>
              <a:rPr sz="4200" b="1" i="0" u="none" dirty="0">
                <a:solidFill>
                  <a:srgbClr val="FFFFFF"/>
                </a:solidFill>
                <a:latin typeface="Poppins"/>
              </a:rPr>
              <a:t>Data Analyst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089820"/>
            <a:ext cx="762000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 err="1">
                <a:solidFill>
                  <a:srgbClr val="94A3B8"/>
                </a:solidFill>
                <a:latin typeface="Lato"/>
              </a:rPr>
              <a:t>Estudio</a:t>
            </a:r>
            <a:r>
              <a:rPr sz="1650" b="0" i="0" u="none" dirty="0">
                <a:solidFill>
                  <a:srgbClr val="94A3B8"/>
                </a:solidFill>
                <a:latin typeface="Lato"/>
              </a:rPr>
              <a:t> </a:t>
            </a:r>
            <a:r>
              <a:rPr sz="1650" b="0" i="0" u="none" dirty="0" err="1">
                <a:solidFill>
                  <a:srgbClr val="94A3B8"/>
                </a:solidFill>
                <a:latin typeface="Lato"/>
              </a:rPr>
              <a:t>exploratorio</a:t>
            </a:r>
            <a:r>
              <a:rPr sz="1650" b="0" i="0" u="none" dirty="0">
                <a:solidFill>
                  <a:srgbClr val="94A3B8"/>
                </a:solidFill>
                <a:latin typeface="Lato"/>
              </a:rPr>
              <a:t> de </a:t>
            </a:r>
            <a:r>
              <a:rPr sz="1650" b="0" i="0" u="none" dirty="0" err="1">
                <a:solidFill>
                  <a:srgbClr val="94A3B8"/>
                </a:solidFill>
                <a:latin typeface="Lato"/>
              </a:rPr>
              <a:t>demanda</a:t>
            </a:r>
            <a:r>
              <a:rPr sz="1650" b="0" i="0" u="none" dirty="0">
                <a:solidFill>
                  <a:srgbClr val="94A3B8"/>
                </a:solidFill>
                <a:latin typeface="Lato"/>
              </a:rPr>
              <a:t>, </a:t>
            </a:r>
            <a:r>
              <a:rPr sz="1650" b="0" i="0" u="none" dirty="0" err="1">
                <a:solidFill>
                  <a:srgbClr val="94A3B8"/>
                </a:solidFill>
                <a:latin typeface="Lato"/>
              </a:rPr>
              <a:t>habilidades</a:t>
            </a:r>
            <a:r>
              <a:rPr sz="1650" b="0" i="0" u="none" dirty="0">
                <a:solidFill>
                  <a:srgbClr val="94A3B8"/>
                </a:solidFill>
                <a:latin typeface="Lato"/>
              </a:rPr>
              <a:t> y </a:t>
            </a:r>
            <a:r>
              <a:rPr sz="1650" b="0" i="0" u="none" dirty="0" err="1">
                <a:solidFill>
                  <a:srgbClr val="94A3B8"/>
                </a:solidFill>
                <a:latin typeface="Lato"/>
              </a:rPr>
              <a:t>competencias</a:t>
            </a:r>
            <a:r>
              <a:rPr sz="1650" b="0" i="0" u="none" dirty="0">
                <a:solidFill>
                  <a:srgbClr val="94A3B8"/>
                </a:solidFill>
                <a:latin typeface="Lato"/>
              </a:rPr>
              <a:t> para la </a:t>
            </a:r>
            <a:r>
              <a:rPr sz="1650" b="0" i="0" u="none" dirty="0" err="1">
                <a:solidFill>
                  <a:srgbClr val="94A3B8"/>
                </a:solidFill>
                <a:latin typeface="Lato"/>
              </a:rPr>
              <a:t>optimización</a:t>
            </a:r>
            <a:r>
              <a:rPr sz="1650" b="0" i="0" u="none" dirty="0">
                <a:solidFill>
                  <a:srgbClr val="94A3B8"/>
                </a:solidFill>
                <a:latin typeface="Lato"/>
              </a:rPr>
              <a:t> de </a:t>
            </a:r>
            <a:r>
              <a:rPr sz="1650" b="0" i="0" u="none" dirty="0" err="1">
                <a:solidFill>
                  <a:srgbClr val="94A3B8"/>
                </a:solidFill>
                <a:latin typeface="Lato"/>
              </a:rPr>
              <a:t>programas</a:t>
            </a:r>
            <a:r>
              <a:rPr sz="1650" b="0" i="0" u="none" dirty="0">
                <a:solidFill>
                  <a:srgbClr val="94A3B8"/>
                </a:solidFill>
                <a:latin typeface="Lato"/>
              </a:rPr>
              <a:t> </a:t>
            </a:r>
            <a:r>
              <a:rPr sz="1650" b="0" i="0" u="none" dirty="0" err="1">
                <a:solidFill>
                  <a:srgbClr val="94A3B8"/>
                </a:solidFill>
                <a:latin typeface="Lato"/>
              </a:rPr>
              <a:t>educativos</a:t>
            </a:r>
            <a:r>
              <a:rPr sz="1650" b="0" i="0" u="none" dirty="0">
                <a:solidFill>
                  <a:srgbClr val="94A3B8"/>
                </a:solidFill>
                <a:latin typeface="Lato"/>
              </a:rPr>
              <a:t> </a:t>
            </a:r>
            <a:r>
              <a:rPr sz="1650" b="0" i="0" u="none" dirty="0" err="1">
                <a:solidFill>
                  <a:srgbClr val="94A3B8"/>
                </a:solidFill>
                <a:latin typeface="Lato"/>
              </a:rPr>
              <a:t>en</a:t>
            </a:r>
            <a:r>
              <a:rPr sz="1650" b="0" i="0" u="none" dirty="0">
                <a:solidFill>
                  <a:srgbClr val="94A3B8"/>
                </a:solidFill>
                <a:latin typeface="Lato"/>
              </a:rPr>
              <a:t> </a:t>
            </a:r>
            <a:r>
              <a:rPr sz="1650" b="0" i="0" u="none" dirty="0" err="1">
                <a:solidFill>
                  <a:srgbClr val="94A3B8"/>
                </a:solidFill>
                <a:latin typeface="Lato"/>
              </a:rPr>
              <a:t>TalentHub</a:t>
            </a:r>
            <a:r>
              <a:rPr sz="1650" b="0" i="0" u="none" dirty="0">
                <a:solidFill>
                  <a:srgbClr val="94A3B8"/>
                </a:solidFill>
                <a:latin typeface="Lato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337595"/>
            <a:ext cx="22955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0EA5E9"/>
                </a:solidFill>
                <a:latin typeface="Lato"/>
              </a:rPr>
              <a:t>Proyecto</a:t>
            </a:r>
            <a:r>
              <a:rPr sz="1200" b="0" i="0" u="none" dirty="0">
                <a:solidFill>
                  <a:srgbClr val="FFFFFF"/>
                </a:solidFill>
                <a:latin typeface="Lato"/>
              </a:rPr>
              <a:t> </a:t>
            </a:r>
            <a:r>
              <a:rPr sz="1200" b="0" i="0" u="none" dirty="0">
                <a:solidFill>
                  <a:srgbClr val="F1F5F9"/>
                </a:solidFill>
                <a:latin typeface="Lato SemiBold"/>
              </a:rPr>
              <a:t>TalentHub Bootcamp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8525" y="4337595"/>
            <a:ext cx="296227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0EA5E9"/>
                </a:solidFill>
                <a:latin typeface="Lato"/>
              </a:rPr>
              <a:t>Consultora / Autor</a:t>
            </a:r>
            <a:r>
              <a:rPr sz="1200" b="0" i="0" u="none" dirty="0">
                <a:solidFill>
                  <a:srgbClr val="FFFFFF"/>
                </a:solidFill>
                <a:latin typeface="Lato"/>
              </a:rPr>
              <a:t> </a:t>
            </a:r>
            <a:r>
              <a:rPr sz="1200" b="0" i="0" u="none" dirty="0">
                <a:solidFill>
                  <a:srgbClr val="F1F5F9"/>
                </a:solidFill>
                <a:latin typeface="Lato SemiBold"/>
              </a:rPr>
              <a:t>Agustín Amarilla —</a:t>
            </a:r>
            <a:r>
              <a:rPr lang="es-AR" sz="1200" b="0" i="0" u="none" dirty="0">
                <a:solidFill>
                  <a:srgbClr val="F1F5F9"/>
                </a:solidFill>
                <a:latin typeface="Lato SemiBold"/>
              </a:rPr>
              <a:t> Comunidad-IT</a:t>
            </a:r>
            <a:endParaRPr sz="1200" b="0" i="0" u="none" dirty="0">
              <a:solidFill>
                <a:srgbClr val="F1F5F9"/>
              </a:solidFill>
              <a:latin typeface="Lato SemiBold"/>
            </a:endParaRPr>
          </a:p>
        </p:txBody>
      </p:sp>
      <p:pic>
        <p:nvPicPr>
          <p:cNvPr id="1026" name="Picture 2" descr="Comunidad IT (@comunidadit) • Instagram photos and videos">
            <a:extLst>
              <a:ext uri="{FF2B5EF4-FFF2-40B4-BE49-F238E27FC236}">
                <a16:creationId xmlns:a16="http://schemas.microsoft.com/office/drawing/2014/main" id="{F84F03FA-925A-4472-2890-34EAFDCA4ADF}"/>
              </a:ext>
            </a:extLst>
          </p:cNvPr>
          <p:cNvPicPr preferRelativeResize="0">
            <a:picLocks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892"/>
          <a:stretch/>
        </p:blipFill>
        <p:spPr bwMode="auto">
          <a:xfrm>
            <a:off x="9810272" y="0"/>
            <a:ext cx="3020824" cy="3048000"/>
          </a:xfrm>
          <a:prstGeom prst="teardrop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726531"/>
            <a:ext cx="5381625" cy="222408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75" y="2726531"/>
            <a:ext cx="5381625" cy="22240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925" y="3479006"/>
            <a:ext cx="4950618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 dirty="0">
                <a:solidFill>
                  <a:srgbClr val="1E293B"/>
                </a:solidFill>
                <a:latin typeface="Poppins SemiBold"/>
              </a:rPr>
              <a:t>Cliente: TalentHub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925" y="3907631"/>
            <a:ext cx="47148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 dirty="0">
                <a:solidFill>
                  <a:srgbClr val="475569"/>
                </a:solidFill>
                <a:latin typeface="Lato"/>
              </a:rPr>
              <a:t>TalentHub es una edtech enfocada en formar talento digital y conectarlo con las demandas reales de las empresas internacionales en tecnología.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1300" y="3479006"/>
            <a:ext cx="4950618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 dirty="0">
                <a:solidFill>
                  <a:srgbClr val="1E293B"/>
                </a:solidFill>
                <a:latin typeface="Poppins SemiBold"/>
              </a:rPr>
              <a:t>Objetivo Estratégico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1300" y="3907631"/>
            <a:ext cx="4714875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 dirty="0">
                <a:solidFill>
                  <a:srgbClr val="475569"/>
                </a:solidFill>
                <a:latin typeface="Lato"/>
              </a:rPr>
              <a:t>Diseñar un nuevo Bootcamp de Data Analyst perfectamente alineado con las tecnologías, habilidades y perfiles más solicitados actualmente por el mercado laboral.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" y="3078956"/>
            <a:ext cx="333375" cy="2667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300" y="3078956"/>
            <a:ext cx="266700" cy="266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" y="205026"/>
            <a:ext cx="1160145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ES" sz="2800" b="1" dirty="0"/>
              <a:t>TalentHub necesita diseñar y estructurar un nuevo bootcamp de Data Analytics alineado con las demandas reales del mercado laboral</a:t>
            </a:r>
            <a:r>
              <a:rPr lang="es-ES" sz="2800" dirty="0"/>
              <a:t>.</a:t>
            </a:r>
            <a:endParaRPr lang="es-AR" sz="2550" b="1" i="0" u="none" dirty="0">
              <a:solidFill>
                <a:srgbClr val="0F172A"/>
              </a:solidFill>
              <a:latin typeface="Poppin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943350"/>
            <a:ext cx="11049000" cy="11811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552700"/>
            <a:ext cx="3530500" cy="11620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0600" y="2552700"/>
            <a:ext cx="3530649" cy="11620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9850" y="2552700"/>
            <a:ext cx="3530500" cy="11620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6300" y="4171950"/>
            <a:ext cx="10961370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 dirty="0">
                <a:solidFill>
                  <a:srgbClr val="38BDF8"/>
                </a:solidFill>
                <a:latin typeface="Poppins SemiBold"/>
              </a:rPr>
              <a:t>Variables Analizadas del 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2790825"/>
            <a:ext cx="30542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450"/>
              </a:lnSpc>
            </a:pPr>
            <a:r>
              <a:rPr sz="3450" b="1" i="0" u="none" dirty="0">
                <a:solidFill>
                  <a:srgbClr val="0EA5E9"/>
                </a:solidFill>
                <a:latin typeface="Poppins"/>
              </a:rPr>
              <a:t>2.154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625" y="3305175"/>
            <a:ext cx="3054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 dirty="0">
                <a:solidFill>
                  <a:srgbClr val="1E293B"/>
                </a:solidFill>
                <a:latin typeface="Lato"/>
              </a:rPr>
              <a:t>VACANTES DE EMPLEO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8725" y="2790825"/>
            <a:ext cx="3054399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450"/>
              </a:lnSpc>
            </a:pPr>
            <a:r>
              <a:rPr sz="3450" b="1" i="0" u="none" dirty="0">
                <a:solidFill>
                  <a:srgbClr val="0EA5E9"/>
                </a:solidFill>
                <a:latin typeface="Poppins"/>
              </a:rPr>
              <a:t>2.033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8725" y="3305175"/>
            <a:ext cx="3054399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 dirty="0">
                <a:solidFill>
                  <a:srgbClr val="1E293B"/>
                </a:solidFill>
                <a:latin typeface="Lato"/>
              </a:rPr>
              <a:t>HABILIDADES REGISTRADAS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7975" y="2790825"/>
            <a:ext cx="30542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450"/>
              </a:lnSpc>
            </a:pPr>
            <a:r>
              <a:rPr sz="3450" b="1" i="0" u="none" dirty="0">
                <a:solidFill>
                  <a:srgbClr val="0EA5E9"/>
                </a:solidFill>
                <a:latin typeface="Poppins"/>
              </a:rPr>
              <a:t>13.032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7975" y="3305175"/>
            <a:ext cx="30542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 dirty="0">
                <a:solidFill>
                  <a:srgbClr val="1E293B"/>
                </a:solidFill>
                <a:latin typeface="Lato"/>
              </a:rPr>
              <a:t>MENCIONES </a:t>
            </a:r>
            <a:r>
              <a:rPr lang="es-AR" sz="1125" b="1" dirty="0">
                <a:solidFill>
                  <a:srgbClr val="1E293B"/>
                </a:solidFill>
                <a:latin typeface="Lato"/>
              </a:rPr>
              <a:t>ANALIZADAS</a:t>
            </a:r>
            <a:endParaRPr sz="1125" b="1" i="0" u="none" dirty="0">
              <a:solidFill>
                <a:srgbClr val="1E293B"/>
              </a:solidFill>
              <a:latin typeface="Lato"/>
            </a:endParaRP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899" y="4600575"/>
            <a:ext cx="1447800" cy="2952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05374" y="4606659"/>
            <a:ext cx="933450" cy="2952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62350" y="4600575"/>
            <a:ext cx="1676400" cy="2952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05425" y="4606659"/>
            <a:ext cx="1647825" cy="2952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67552" y="4595271"/>
            <a:ext cx="1019175" cy="2952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0075" y="4605337"/>
            <a:ext cx="1600200" cy="2952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9175" y="4686300"/>
            <a:ext cx="133350" cy="13335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62225" y="4686300"/>
            <a:ext cx="104775" cy="13335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90925" y="4686300"/>
            <a:ext cx="152400" cy="13335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62575" y="4686300"/>
            <a:ext cx="133350" cy="1333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05650" y="4686300"/>
            <a:ext cx="104775" cy="13335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20075" y="4686300"/>
            <a:ext cx="171450" cy="1333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71500" y="47625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0F172A"/>
                </a:solidFill>
                <a:latin typeface="Poppins"/>
              </a:rPr>
              <a:t>Datos Utilizados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120" y="3310979"/>
            <a:ext cx="533400" cy="533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135" y="3310979"/>
            <a:ext cx="533400" cy="533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151" y="3310979"/>
            <a:ext cx="533400" cy="5334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4166" y="3310979"/>
            <a:ext cx="533400" cy="533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9181" y="3310979"/>
            <a:ext cx="533400" cy="533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123950" y="3914775"/>
            <a:ext cx="9944100" cy="381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199108" y="3996779"/>
            <a:ext cx="733425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 dirty="0">
                <a:solidFill>
                  <a:srgbClr val="0F172A"/>
                </a:solidFill>
                <a:latin typeface="Lato"/>
              </a:rPr>
              <a:t>Extracción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4234904"/>
            <a:ext cx="1988790" cy="321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7"/>
              </a:lnSpc>
            </a:pPr>
            <a:r>
              <a:rPr sz="975" b="0" i="0" u="none" dirty="0">
                <a:solidFill>
                  <a:srgbClr val="64748B"/>
                </a:solidFill>
                <a:latin typeface="Lato"/>
              </a:rPr>
              <a:t>Carga de datasets de vacantes y habilidades en pandas.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0798" y="3996779"/>
            <a:ext cx="600075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 dirty="0">
                <a:solidFill>
                  <a:srgbClr val="0F172A"/>
                </a:solidFill>
                <a:latin typeface="Lato"/>
              </a:rPr>
              <a:t>Limpieza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6515" y="4234904"/>
            <a:ext cx="1988790" cy="321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7"/>
              </a:lnSpc>
            </a:pPr>
            <a:r>
              <a:rPr sz="975" b="0" i="0" u="none" dirty="0">
                <a:solidFill>
                  <a:srgbClr val="64748B"/>
                </a:solidFill>
                <a:latin typeface="Lato"/>
              </a:rPr>
              <a:t>Normalización de fechas (datetime) y diagnóstico de nulos.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451" y="3996779"/>
            <a:ext cx="4191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 dirty="0">
                <a:solidFill>
                  <a:srgbClr val="0F172A"/>
                </a:solidFill>
                <a:latin typeface="Lato"/>
              </a:rPr>
              <a:t>E</a:t>
            </a:r>
            <a:r>
              <a:rPr lang="es-AR" sz="1200" b="1" dirty="0">
                <a:solidFill>
                  <a:srgbClr val="0F172A"/>
                </a:solidFill>
                <a:latin typeface="Lato"/>
              </a:rPr>
              <a:t>D</a:t>
            </a:r>
            <a:r>
              <a:rPr sz="1200" b="1" i="0" u="none" dirty="0">
                <a:solidFill>
                  <a:srgbClr val="0F172A"/>
                </a:solidFill>
                <a:latin typeface="Lato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1530" y="4234904"/>
            <a:ext cx="1988790" cy="321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7"/>
              </a:lnSpc>
            </a:pPr>
            <a:r>
              <a:rPr sz="975" b="0" i="0" u="none" dirty="0">
                <a:solidFill>
                  <a:srgbClr val="64748B"/>
                </a:solidFill>
                <a:latin typeface="Lato"/>
              </a:rPr>
              <a:t>Análisis exploratorio de demanda por experiencia y puesto.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7953" y="3996779"/>
            <a:ext cx="885825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 dirty="0">
                <a:solidFill>
                  <a:srgbClr val="0F172A"/>
                </a:solidFill>
                <a:latin typeface="Lato"/>
              </a:rPr>
              <a:t>Visualización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6545" y="4234904"/>
            <a:ext cx="1988790" cy="321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7"/>
              </a:lnSpc>
            </a:pPr>
            <a:r>
              <a:rPr sz="975" b="0" i="0" u="none" dirty="0">
                <a:solidFill>
                  <a:srgbClr val="64748B"/>
                </a:solidFill>
                <a:latin typeface="Lato"/>
              </a:rPr>
              <a:t>Construcción de métricas y gráficos de frecuencia.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6756" y="3996779"/>
            <a:ext cx="123825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 dirty="0">
                <a:solidFill>
                  <a:srgbClr val="0F172A"/>
                </a:solidFill>
                <a:latin typeface="Lato"/>
              </a:rPr>
              <a:t>Recomendaciones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1560" y="4234904"/>
            <a:ext cx="1988790" cy="321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7"/>
              </a:lnSpc>
            </a:pPr>
            <a:r>
              <a:rPr sz="975" b="0" i="0" u="none" dirty="0">
                <a:solidFill>
                  <a:srgbClr val="64748B"/>
                </a:solidFill>
                <a:latin typeface="Lato"/>
              </a:rPr>
              <a:t>Diseño de propuesta de valor para el nuevo Bootcamp.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" y="47625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0F172A"/>
                </a:solidFill>
                <a:latin typeface="Poppins"/>
              </a:rPr>
              <a:t>Metodología de Trabajo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200525"/>
            <a:ext cx="11049000" cy="762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95400"/>
            <a:ext cx="11049000" cy="50863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0100" y="4352925"/>
            <a:ext cx="10629900" cy="436723"/>
          </a:xfrm>
          <a:prstGeom prst="rect">
            <a:avLst/>
          </a:prstGeom>
          <a:noFill/>
        </p:spPr>
        <p:txBody>
          <a:bodyPr wrap="square" lIns="11430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s-AR" sz="1200" b="1" i="0" u="none" dirty="0">
                <a:solidFill>
                  <a:srgbClr val="0369A1"/>
                </a:solidFill>
                <a:latin typeface="Lato"/>
              </a:rPr>
              <a:t> </a:t>
            </a:r>
            <a:r>
              <a:rPr sz="1200" b="1" i="0" u="none" dirty="0">
                <a:solidFill>
                  <a:srgbClr val="0369A1"/>
                </a:solidFill>
                <a:latin typeface="Lato"/>
              </a:rPr>
              <a:t>Insight: Existe alta demanda en niveles iniciales e intermedios, pero una amplia proporción (45%) no especifica nivel explícito, priorizando proyectos demostrables sobre títulos.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" y="4391025"/>
            <a:ext cx="114300" cy="152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47625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0F172A"/>
                </a:solidFill>
                <a:latin typeface="Poppins"/>
              </a:rPr>
              <a:t>Hallazgo #1: Demandas por Experiencia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143125"/>
            <a:ext cx="11049000" cy="2667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295400"/>
            <a:ext cx="11049000" cy="50863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84097" y="2685559"/>
            <a:ext cx="304800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475569"/>
                </a:solidFill>
                <a:latin typeface="Lato SemiBold"/>
              </a:rPr>
              <a:t>Data Analyst General (30% / 648 ofertas)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84097" y="3028262"/>
            <a:ext cx="304800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475569"/>
                </a:solidFill>
                <a:latin typeface="Lato SemiBold"/>
              </a:rPr>
              <a:t>Senior Data Analyst (15%)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4097" y="3362325"/>
            <a:ext cx="304800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475569"/>
                </a:solidFill>
                <a:latin typeface="Lato SemiBold"/>
              </a:rPr>
              <a:t>Business / Operations Analyst (10%)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4097" y="3715436"/>
            <a:ext cx="304800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475569"/>
                </a:solidFill>
                <a:latin typeface="Lato SemiBold"/>
              </a:rPr>
              <a:t>Junior / Co-Op Analyst (10%)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4097" y="4044048"/>
            <a:ext cx="3048000" cy="2000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475569"/>
                </a:solidFill>
                <a:latin typeface="Lato SemiBold"/>
              </a:rPr>
              <a:t>Otros títulos específicos (35%)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9000" y="2705100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7239000" y="3048000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Rounded Rectangle 11"/>
          <p:cNvSpPr/>
          <p:nvPr/>
        </p:nvSpPr>
        <p:spPr>
          <a:xfrm>
            <a:off x="7239000" y="3390900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7239000" y="3733800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A7F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7239000" y="4076700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571500" y="47625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0F172A"/>
                </a:solidFill>
                <a:latin typeface="Poppins"/>
              </a:rPr>
              <a:t>Hallazgo #2: Perfiles Más Solicitados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438650"/>
            <a:ext cx="11049000" cy="762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295400"/>
            <a:ext cx="11049000" cy="50863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0100" y="4591050"/>
            <a:ext cx="10629900" cy="436723"/>
          </a:xfrm>
          <a:prstGeom prst="rect">
            <a:avLst/>
          </a:prstGeom>
          <a:noFill/>
        </p:spPr>
        <p:txBody>
          <a:bodyPr wrap="square" lIns="19050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s-AR" sz="1200" b="1" i="0" u="none" dirty="0">
                <a:solidFill>
                  <a:srgbClr val="0369A1"/>
                </a:solidFill>
                <a:latin typeface="Lato"/>
              </a:rPr>
              <a:t> </a:t>
            </a:r>
            <a:r>
              <a:rPr sz="1200" b="1" i="0" u="none" dirty="0">
                <a:solidFill>
                  <a:srgbClr val="0369A1"/>
                </a:solidFill>
                <a:latin typeface="Lato"/>
              </a:rPr>
              <a:t>Insight: Se </a:t>
            </a:r>
            <a:r>
              <a:rPr lang="es-AR" sz="1200" b="1" i="0" u="none" dirty="0">
                <a:solidFill>
                  <a:srgbClr val="0369A1"/>
                </a:solidFill>
                <a:latin typeface="Lato"/>
              </a:rPr>
              <a:t>registran</a:t>
            </a:r>
            <a:r>
              <a:rPr sz="1200" b="1" i="0" u="none" dirty="0">
                <a:solidFill>
                  <a:srgbClr val="0369A1"/>
                </a:solidFill>
                <a:latin typeface="Lato"/>
              </a:rPr>
              <a:t> 13.032 menciones de habilidades (aprox. 6 habilidades por oferta). Las herramientas indispensables forman el trinomio SQL + Excel + BI.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" y="4629150"/>
            <a:ext cx="190500" cy="152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47625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0F172A"/>
                </a:solidFill>
                <a:latin typeface="Poppins"/>
              </a:rPr>
              <a:t>Hallazgo #3: Frecuencia de Habilidades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416968"/>
            <a:ext cx="11049000" cy="90011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421856"/>
            <a:ext cx="11049000" cy="90011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26743"/>
            <a:ext cx="11049000" cy="100309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625" y="2597943"/>
            <a:ext cx="38100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625" y="3602831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625" y="4607718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875" y="2702718"/>
            <a:ext cx="19050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43025" y="2597943"/>
            <a:ext cx="98393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Lato"/>
              </a:rPr>
              <a:t>1. Estructurar el núcleo alrededor del "Core 3"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3025" y="2826543"/>
            <a:ext cx="9839325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 dirty="0">
                <a:solidFill>
                  <a:srgbClr val="475569"/>
                </a:solidFill>
                <a:latin typeface="Lato"/>
              </a:rPr>
              <a:t>Asegurar la enseñanza intensiva de SQL, Excel avanzado y herramientas de BI (Power BI / Tableau) como pilares fundamentales innegociables.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3925" y="3707606"/>
            <a:ext cx="152400" cy="171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43025" y="3602831"/>
            <a:ext cx="937260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Lato"/>
              </a:rPr>
              <a:t>2. Orientar el perfil de egreso a Entry/Middle Analyst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3025" y="3831431"/>
            <a:ext cx="9372600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 dirty="0">
                <a:solidFill>
                  <a:srgbClr val="475569"/>
                </a:solidFill>
                <a:latin typeface="Lato"/>
              </a:rPr>
              <a:t>Preparar a los graduados tanto en competencias técnicas como en comprensión del negocio para cubrir la brecha de posiciones híbridas.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0587" y="4712493"/>
            <a:ext cx="219075" cy="1714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43025" y="4607718"/>
            <a:ext cx="898207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Lato"/>
              </a:rPr>
              <a:t>3. Proyecto integrador portafolio (Hands-on)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3025" y="4836318"/>
            <a:ext cx="8982075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 dirty="0">
                <a:solidFill>
                  <a:srgbClr val="475569"/>
                </a:solidFill>
                <a:latin typeface="Lato"/>
              </a:rPr>
              <a:t>Incorporar la creación de proyectos reales para suplir la falta de especificación formal de años de experiencia en las convocatorias.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47625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0F172A"/>
                </a:solidFill>
                <a:latin typeface="Poppins"/>
              </a:rPr>
              <a:t>Recomendaciones para el Bootcamp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562225"/>
            <a:ext cx="3555950" cy="25527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7950" y="2562225"/>
            <a:ext cx="3555950" cy="25527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400" y="2562225"/>
            <a:ext cx="3555950" cy="2552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625" y="2828925"/>
            <a:ext cx="495300" cy="495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9625" y="3476625"/>
            <a:ext cx="2200275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 dirty="0">
                <a:solidFill>
                  <a:srgbClr val="1E293B"/>
                </a:solidFill>
                <a:latin typeface="Poppins SemiBold"/>
              </a:rPr>
              <a:t>45% Sin Especificar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3905250"/>
            <a:ext cx="3079700" cy="971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 dirty="0">
                <a:solidFill>
                  <a:srgbClr val="475569"/>
                </a:solidFill>
                <a:latin typeface="Lato"/>
              </a:rPr>
              <a:t>Una alta proporción de ofertas no detalla el nivel de experiencia de forma estandarizada, requiriendo inferir requisitos mediante las descripciones.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6075" y="2828925"/>
            <a:ext cx="495300" cy="495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6075" y="3476625"/>
            <a:ext cx="2180272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 dirty="0">
                <a:solidFill>
                  <a:srgbClr val="1E293B"/>
                </a:solidFill>
                <a:latin typeface="Poppins SemiBold"/>
              </a:rPr>
              <a:t>Datos Incompletos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6075" y="3905250"/>
            <a:ext cx="3079700" cy="971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 dirty="0">
                <a:solidFill>
                  <a:srgbClr val="475569"/>
                </a:solidFill>
                <a:latin typeface="Lato"/>
              </a:rPr>
              <a:t>Se identificaron 208 registros con descripciones crudas nulas y 321 sin años de experiencia explicitados en el origen de datos.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2525" y="2828925"/>
            <a:ext cx="495300" cy="4953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2525" y="3476625"/>
            <a:ext cx="2040255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 dirty="0">
                <a:solidFill>
                  <a:srgbClr val="1E293B"/>
                </a:solidFill>
                <a:latin typeface="Poppins SemiBold"/>
              </a:rPr>
              <a:t>Sesgo Geográfico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525" y="3905250"/>
            <a:ext cx="3079700" cy="971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 dirty="0">
                <a:solidFill>
                  <a:srgbClr val="475569"/>
                </a:solidFill>
                <a:latin typeface="Lato"/>
              </a:rPr>
              <a:t>Predominio de convocatorias provenientes de LinkedIn y portales mayoritariamente de Estados Unidos o modalidades 100% remotas.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925" y="2943225"/>
            <a:ext cx="266700" cy="2667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4662" y="2943225"/>
            <a:ext cx="238125" cy="2667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6825" y="2943225"/>
            <a:ext cx="266700" cy="2667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" y="47625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0F172A"/>
                </a:solidFill>
                <a:latin typeface="Poppins"/>
              </a:rPr>
              <a:t>Riesgos y Limitaciones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2436018"/>
            <a:ext cx="228600" cy="228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3536156"/>
            <a:ext cx="228600" cy="228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4636293"/>
            <a:ext cx="228600" cy="228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0150" y="2416968"/>
            <a:ext cx="8271033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38BDF8"/>
                </a:solidFill>
                <a:latin typeface="Poppins"/>
              </a:rPr>
              <a:t>Qué descubrimos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0150" y="2712243"/>
            <a:ext cx="7877175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>
                <a:solidFill>
                  <a:srgbClr val="CBD5E1"/>
                </a:solidFill>
                <a:latin typeface="Lato"/>
              </a:rPr>
              <a:t>El mercado exige un promedio de 6 habilidades por vacante, donde SQL, Excel y BI dominan más del 70% de los requerimientos.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0150" y="3517106"/>
            <a:ext cx="1032129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38BDF8"/>
                </a:solidFill>
                <a:latin typeface="Poppins"/>
              </a:rPr>
              <a:t>Qué significa para el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3812381"/>
            <a:ext cx="9829800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>
                <a:solidFill>
                  <a:srgbClr val="CBD5E1"/>
                </a:solidFill>
                <a:latin typeface="Lato"/>
              </a:rPr>
              <a:t>TalentHub tiene la oportunidad clave de diseñar un programa altamente empleable enfocándose en proyectos prácticos y en el núcleo técnico más demandado.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617243"/>
            <a:ext cx="9341167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38BDF8"/>
                </a:solidFill>
                <a:latin typeface="Poppins"/>
              </a:rPr>
              <a:t>Qué recomendamos hacer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0150" y="4912518"/>
            <a:ext cx="8896350" cy="194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>
                <a:solidFill>
                  <a:srgbClr val="CBD5E1"/>
                </a:solidFill>
                <a:latin typeface="Lato"/>
              </a:rPr>
              <a:t>Lanzar el nuevo Bootcamp con 3 módulos técnicos centrales y un taller de construcción de portafolio aplicable a vacantes Entry </a:t>
            </a:r>
            <a:r>
              <a:rPr lang="es-AR" sz="1125" dirty="0">
                <a:solidFill>
                  <a:srgbClr val="CBD5E1"/>
                </a:solidFill>
                <a:latin typeface="Lato"/>
              </a:rPr>
              <a:t>y </a:t>
            </a:r>
            <a:r>
              <a:rPr lang="es-AR" sz="1125" dirty="0" err="1">
                <a:solidFill>
                  <a:srgbClr val="CBD5E1"/>
                </a:solidFill>
                <a:latin typeface="Lato"/>
              </a:rPr>
              <a:t>Middle</a:t>
            </a:r>
            <a:r>
              <a:rPr sz="1125" b="0" i="0" u="none" dirty="0">
                <a:solidFill>
                  <a:srgbClr val="CBD5E1"/>
                </a:solidFill>
                <a:latin typeface="Lato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476250"/>
            <a:ext cx="116014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0F172A"/>
                </a:solidFill>
                <a:latin typeface="Poppins"/>
              </a:rPr>
              <a:t>Resumen Ejecutivo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1038225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554</Words>
  <Application>Microsoft Office PowerPoint</Application>
  <PresentationFormat>Panorámica</PresentationFormat>
  <Paragraphs>60</Paragraphs>
  <Slides>10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Arial</vt:lpstr>
      <vt:lpstr>Calibri</vt:lpstr>
      <vt:lpstr>Lato</vt:lpstr>
      <vt:lpstr>Lato SemiBold</vt:lpstr>
      <vt:lpstr>Poppins</vt:lpstr>
      <vt:lpstr>Poppins SemiBold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Azathot</cp:lastModifiedBy>
  <cp:revision>2</cp:revision>
  <dcterms:created xsi:type="dcterms:W3CDTF">2013-01-27T09:14:16Z</dcterms:created>
  <dcterms:modified xsi:type="dcterms:W3CDTF">2026-08-05T23:40:56Z</dcterms:modified>
  <cp:category/>
</cp:coreProperties>
</file>