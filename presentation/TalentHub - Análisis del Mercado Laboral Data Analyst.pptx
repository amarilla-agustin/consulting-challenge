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26151-D0A4-424F-AE86-B165D38FC5CE}" type="datetimeFigureOut">
              <a:rPr lang="es-AR" smtClean="0"/>
              <a:t>5/8/2026</a:t>
            </a:fld>
            <a:endParaRPr lang="es-AR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21D10-025E-4FAA-AB85-A98F765075B8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9846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21D10-025E-4FAA-AB85-A98F765075B8}" type="slidenum">
              <a:rPr lang="es-AR" smtClean="0"/>
              <a:t>6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08317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BEAB0249-C1BB-1997-945C-AE38680EBB95}"/>
              </a:ext>
            </a:extLst>
          </p:cNvPr>
          <p:cNvSpPr/>
          <p:nvPr/>
        </p:nvSpPr>
        <p:spPr>
          <a:xfrm>
            <a:off x="4535299" y="2086378"/>
            <a:ext cx="3121402" cy="279426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99470"/>
            <a:ext cx="9525000" cy="600075"/>
          </a:xfrm>
          <a:prstGeom prst="rect">
            <a:avLst/>
          </a:prstGeom>
        </p:spPr>
      </p:pic>
      <p:pic>
        <p:nvPicPr>
          <p:cNvPr id="4" name="Picture 3" descr="image.png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831097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205954"/>
            <a:ext cx="213360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710779"/>
            <a:ext cx="1000125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FFFFF"/>
                </a:solidFill>
                <a:latin typeface="Poppins"/>
              </a:rPr>
              <a:t>Análisis del Mercado Laboral </a:t>
            </a:r>
            <a:r>
              <a:rPr lang="es-AR" sz="4200" b="1" i="0" u="none" dirty="0">
                <a:solidFill>
                  <a:srgbClr val="FFFFFF"/>
                </a:solidFill>
                <a:latin typeface="Poppins"/>
              </a:rPr>
              <a:t>de </a:t>
            </a:r>
            <a:r>
              <a:rPr sz="4200" b="1" i="0" u="none" dirty="0">
                <a:solidFill>
                  <a:srgbClr val="FFFFFF"/>
                </a:solidFill>
                <a:latin typeface="Poppins"/>
              </a:rPr>
              <a:t>Data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89820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Estudio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exploratorio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demanda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,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habilidades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y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competencias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para la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optimización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programas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educativos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en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Lato"/>
              </a:rPr>
              <a:t>TalentHub</a:t>
            </a:r>
            <a:r>
              <a:rPr sz="1650" b="0" i="0" u="none" dirty="0">
                <a:solidFill>
                  <a:srgbClr val="94A3B8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37595"/>
            <a:ext cx="22955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EA5E9"/>
                </a:solidFill>
                <a:latin typeface="Lato"/>
              </a:rPr>
              <a:t>Proyecto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 </a:t>
            </a:r>
            <a:r>
              <a:rPr sz="1200" b="0" i="0" u="none" dirty="0">
                <a:solidFill>
                  <a:srgbClr val="F1F5F9"/>
                </a:solidFill>
                <a:latin typeface="Lato SemiBold"/>
              </a:rPr>
              <a:t>TalentHub Bootcamp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525" y="4337595"/>
            <a:ext cx="29622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EA5E9"/>
                </a:solidFill>
                <a:latin typeface="Lato"/>
              </a:rPr>
              <a:t>Consultora / Autor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 </a:t>
            </a:r>
            <a:r>
              <a:rPr sz="1200" b="0" i="0" u="none" dirty="0">
                <a:solidFill>
                  <a:srgbClr val="F1F5F9"/>
                </a:solidFill>
                <a:latin typeface="Lato SemiBold"/>
              </a:rPr>
              <a:t>Agustín Amarilla —</a:t>
            </a:r>
            <a:r>
              <a:rPr lang="es-AR" sz="1200" b="0" i="0" u="none" dirty="0">
                <a:solidFill>
                  <a:srgbClr val="F1F5F9"/>
                </a:solidFill>
                <a:latin typeface="Lato SemiBold"/>
              </a:rPr>
              <a:t> Comunidad-IT</a:t>
            </a:r>
            <a:endParaRPr sz="1200" b="0" i="0" u="none" dirty="0">
              <a:solidFill>
                <a:srgbClr val="F1F5F9"/>
              </a:solidFill>
              <a:latin typeface="Lato SemiBold"/>
            </a:endParaRPr>
          </a:p>
        </p:txBody>
      </p:sp>
      <p:pic>
        <p:nvPicPr>
          <p:cNvPr id="1026" name="Picture 2" descr="Comunidad IT (@comunidadit) • Instagram photos and videos">
            <a:extLst>
              <a:ext uri="{FF2B5EF4-FFF2-40B4-BE49-F238E27FC236}">
                <a16:creationId xmlns:a16="http://schemas.microsoft.com/office/drawing/2014/main" id="{F84F03FA-925A-4472-2890-34EAFDCA4ADF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92"/>
          <a:stretch/>
        </p:blipFill>
        <p:spPr bwMode="auto">
          <a:xfrm>
            <a:off x="9810272" y="0"/>
            <a:ext cx="3020824" cy="3048000"/>
          </a:xfrm>
          <a:prstGeom prst="teardrop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6531"/>
            <a:ext cx="5381625" cy="2224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26531"/>
            <a:ext cx="5381625" cy="2224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479006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Cliente: TalentHub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907631"/>
            <a:ext cx="47148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TalentHub es una edtech enfocada en formar talento digital y conectarlo con las demandas reales de las empresas internacionales en tecnología.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479006"/>
            <a:ext cx="495061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Objetivo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907631"/>
            <a:ext cx="47148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Diseñar un nuevo Bootcamp de Data Analyst perfectamente alineado con las tecnologías, habilidades y perfiles más solicitados actualmente por el mercado laboral.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078956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3078956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550" y="604005"/>
            <a:ext cx="1160145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2800" b="1" dirty="0"/>
              <a:t>Identificar las habilidades más demandadas por el mercado.</a:t>
            </a:r>
          </a:p>
          <a:p>
            <a:pPr algn="l"/>
            <a:endParaRPr lang="es-ES" sz="2800" b="1" dirty="0"/>
          </a:p>
        </p:txBody>
      </p:sp>
      <p:sp>
        <p:nvSpPr>
          <p:cNvPr id="12" name="Rectangle 11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43350"/>
            <a:ext cx="11049000" cy="118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3530500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552700"/>
            <a:ext cx="3530649" cy="1162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552700"/>
            <a:ext cx="3530500" cy="116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4171950"/>
            <a:ext cx="109613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8BDF8"/>
                </a:solidFill>
                <a:latin typeface="Poppins SemiBold"/>
              </a:rPr>
              <a:t>Variables Analizadas del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790825"/>
            <a:ext cx="3054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 dirty="0">
                <a:solidFill>
                  <a:srgbClr val="0EA5E9"/>
                </a:solidFill>
                <a:latin typeface="Poppins"/>
              </a:rPr>
              <a:t>2.154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05175"/>
            <a:ext cx="3054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1E293B"/>
                </a:solidFill>
                <a:latin typeface="Lato"/>
              </a:rPr>
              <a:t>VACANTES DE EMPLEO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725" y="2790825"/>
            <a:ext cx="305439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 dirty="0">
                <a:solidFill>
                  <a:srgbClr val="0EA5E9"/>
                </a:solidFill>
                <a:latin typeface="Poppins"/>
              </a:rPr>
              <a:t>2.033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305175"/>
            <a:ext cx="30543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1E293B"/>
                </a:solidFill>
                <a:latin typeface="Lato"/>
              </a:rPr>
              <a:t>HABILIDADES REGISTRADAS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7975" y="2790825"/>
            <a:ext cx="3054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450" b="1" i="0" u="none" dirty="0">
                <a:solidFill>
                  <a:srgbClr val="0EA5E9"/>
                </a:solidFill>
                <a:latin typeface="Poppins"/>
              </a:rPr>
              <a:t>13.032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975" y="3305175"/>
            <a:ext cx="3054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1E293B"/>
                </a:solidFill>
                <a:latin typeface="Lato"/>
              </a:rPr>
              <a:t>MENCIONES </a:t>
            </a:r>
            <a:r>
              <a:rPr lang="es-AR" sz="1125" b="1" dirty="0">
                <a:solidFill>
                  <a:srgbClr val="1E293B"/>
                </a:solidFill>
                <a:latin typeface="Lato"/>
              </a:rPr>
              <a:t>ANALIZADAS</a:t>
            </a:r>
            <a:endParaRPr sz="1125" b="1" i="0" u="none" dirty="0">
              <a:solidFill>
                <a:srgbClr val="1E293B"/>
              </a:solidFill>
              <a:latin typeface="Lato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899" y="4600575"/>
            <a:ext cx="1447800" cy="295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5374" y="4606659"/>
            <a:ext cx="9334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2350" y="4600575"/>
            <a:ext cx="1676400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5425" y="4606659"/>
            <a:ext cx="1647825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7552" y="4595271"/>
            <a:ext cx="1019175" cy="2952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0075" y="4605337"/>
            <a:ext cx="1600200" cy="2952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175" y="4686300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62225" y="4686300"/>
            <a:ext cx="10477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90925" y="4686300"/>
            <a:ext cx="1524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2575" y="4686300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05650" y="4686300"/>
            <a:ext cx="104775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20075" y="4686300"/>
            <a:ext cx="171450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Datos Utilizados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120" y="3310979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135" y="3310979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151" y="3310979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166" y="3310979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9181" y="3310979"/>
            <a:ext cx="533400" cy="53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3950" y="3914775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99108" y="3996779"/>
            <a:ext cx="733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0F172A"/>
                </a:solidFill>
                <a:latin typeface="Lato"/>
              </a:rPr>
              <a:t>Extracción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234904"/>
            <a:ext cx="1988790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64748B"/>
                </a:solidFill>
                <a:latin typeface="Lato"/>
              </a:rPr>
              <a:t>Carga de datasets de vacantes y habilidades en pandas.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0798" y="3996779"/>
            <a:ext cx="6000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0F172A"/>
                </a:solidFill>
                <a:latin typeface="Lato"/>
              </a:rPr>
              <a:t>Limpieza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6515" y="4234904"/>
            <a:ext cx="1988790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64748B"/>
                </a:solidFill>
                <a:latin typeface="Lato"/>
              </a:rPr>
              <a:t>Normalización de fechas (datetime) y diagnóstico de nulos.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451" y="3996779"/>
            <a:ext cx="4191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0F172A"/>
                </a:solidFill>
                <a:latin typeface="Lato"/>
              </a:rPr>
              <a:t>E</a:t>
            </a:r>
            <a:r>
              <a:rPr lang="es-AR" sz="1200" b="1" dirty="0">
                <a:solidFill>
                  <a:srgbClr val="0F172A"/>
                </a:solidFill>
                <a:latin typeface="Lato"/>
              </a:rPr>
              <a:t>D</a:t>
            </a:r>
            <a:r>
              <a:rPr sz="1200" b="1" i="0" u="none" dirty="0">
                <a:solidFill>
                  <a:srgbClr val="0F172A"/>
                </a:solidFill>
                <a:latin typeface="Lato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1530" y="4234904"/>
            <a:ext cx="1988790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64748B"/>
                </a:solidFill>
                <a:latin typeface="Lato"/>
              </a:rPr>
              <a:t>Análisis exploratorio de demanda por experiencia y puesto.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7953" y="3996779"/>
            <a:ext cx="8858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0F172A"/>
                </a:solidFill>
                <a:latin typeface="Lato"/>
              </a:rPr>
              <a:t>Visualización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545" y="4234904"/>
            <a:ext cx="1988790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64748B"/>
                </a:solidFill>
                <a:latin typeface="Lato"/>
              </a:rPr>
              <a:t>Construcción de métricas y gráficos de frecuencia.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6756" y="3996779"/>
            <a:ext cx="1238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0F172A"/>
                </a:solidFill>
                <a:latin typeface="Lato"/>
              </a:rPr>
              <a:t>Recomendaciones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560" y="4234904"/>
            <a:ext cx="1988790" cy="321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975" b="0" i="0" u="none" dirty="0">
                <a:solidFill>
                  <a:srgbClr val="64748B"/>
                </a:solidFill>
                <a:latin typeface="Lato"/>
              </a:rPr>
              <a:t>Diseño de propuesta de valor para el nuevo Bootcamp.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Metodología de Trabajo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0525"/>
            <a:ext cx="11049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11049000" cy="5086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" y="4352925"/>
            <a:ext cx="10629900" cy="43672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s-AR" sz="1200" b="1" i="0" u="none" dirty="0">
                <a:solidFill>
                  <a:srgbClr val="0369A1"/>
                </a:solidFill>
                <a:latin typeface="Lato"/>
              </a:rPr>
              <a:t> </a:t>
            </a:r>
            <a:r>
              <a:rPr sz="1200" b="1" i="0" u="none" dirty="0">
                <a:solidFill>
                  <a:srgbClr val="0369A1"/>
                </a:solidFill>
                <a:latin typeface="Lato"/>
              </a:rPr>
              <a:t>Insight: Existe alta demanda en niveles iniciales e intermedios, pero una amplia proporción (45%) no especifica nivel explícito, priorizando proyectos demostrables sobre títulos.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391025"/>
            <a:ext cx="1143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Hallazgo #1: Demandas por Experiencia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43125"/>
            <a:ext cx="11049000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95400"/>
            <a:ext cx="11049000" cy="5086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84097" y="2685559"/>
            <a:ext cx="3048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Lato SemiBold"/>
              </a:rPr>
              <a:t>Data Analyst General (30% / 648 ofertas)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4097" y="3028262"/>
            <a:ext cx="3048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Lato SemiBold"/>
              </a:rPr>
              <a:t>Senior Data Analyst (15%)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4097" y="3362325"/>
            <a:ext cx="3048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Lato SemiBold"/>
              </a:rPr>
              <a:t>Business / Operations Analyst (10%)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4097" y="3715436"/>
            <a:ext cx="3048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Lato SemiBold"/>
              </a:rPr>
              <a:t>Junior / Co-Op Analyst (10%)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4097" y="4044048"/>
            <a:ext cx="30480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Lato SemiBold"/>
              </a:rPr>
              <a:t>Otros títulos específicos (35%)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9000" y="27051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239000" y="30480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239000" y="33909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239000" y="37338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A7F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239000" y="40767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Hallazgo #2: Perfiles Más Solicitados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38650"/>
            <a:ext cx="11049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11049000" cy="5086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" y="4591050"/>
            <a:ext cx="10629900" cy="436723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s-AR" sz="1200" b="1" i="0" u="none" dirty="0">
                <a:solidFill>
                  <a:srgbClr val="0369A1"/>
                </a:solidFill>
                <a:latin typeface="Lato"/>
              </a:rPr>
              <a:t> </a:t>
            </a:r>
            <a:r>
              <a:rPr sz="1200" b="1" i="0" u="none" dirty="0">
                <a:solidFill>
                  <a:srgbClr val="0369A1"/>
                </a:solidFill>
                <a:latin typeface="Lato"/>
              </a:rPr>
              <a:t>Insight: Se </a:t>
            </a:r>
            <a:r>
              <a:rPr lang="es-AR" sz="1200" b="1" i="0" u="none" dirty="0">
                <a:solidFill>
                  <a:srgbClr val="0369A1"/>
                </a:solidFill>
                <a:latin typeface="Lato"/>
              </a:rPr>
              <a:t>registran</a:t>
            </a:r>
            <a:r>
              <a:rPr sz="1200" b="1" i="0" u="none" dirty="0">
                <a:solidFill>
                  <a:srgbClr val="0369A1"/>
                </a:solidFill>
                <a:latin typeface="Lato"/>
              </a:rPr>
              <a:t> 13.032 menciones de habilidades (aprox. 6 habilidades por oferta). Las herramientas indispensables forman el trinomio SQL + Excel + BI.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629150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Hallazgo #3: Frecuencia de Habilidades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6968"/>
            <a:ext cx="11049000" cy="900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21856"/>
            <a:ext cx="11049000" cy="900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26743"/>
            <a:ext cx="11049000" cy="10030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597943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602831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607718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2702718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3025" y="2597943"/>
            <a:ext cx="9839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Lato"/>
              </a:rPr>
              <a:t>1. Estructurar el núcleo alrededor del "Core 3"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2826543"/>
            <a:ext cx="98393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Asegurar la enseñanza intensiva de SQL, Excel avanzado y herramientas de BI (Power BI / Tableau) como pilares fundamentales innegociables.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3707606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43025" y="3602831"/>
            <a:ext cx="9372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Lato"/>
              </a:rPr>
              <a:t>2. Orientar el perfil de egreso a Entry/Middle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3025" y="3831431"/>
            <a:ext cx="93726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Preparar a los graduados tanto en competencias técnicas como en comprensión del negocio para cubrir la brecha de posiciones híbridas.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587" y="4712493"/>
            <a:ext cx="2190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43025" y="4607718"/>
            <a:ext cx="89820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Lato"/>
              </a:rPr>
              <a:t>3. Proyecto integrador portafolio (Hands-on)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4836318"/>
            <a:ext cx="8982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Incorporar la creación de proyectos reales para suplir la falta de especificación formal de años de experiencia en las convocatorias.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Recomendaciones para el Bootcamp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225"/>
            <a:ext cx="3555950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562225"/>
            <a:ext cx="3555950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562225"/>
            <a:ext cx="3555950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28925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76625"/>
            <a:ext cx="22002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45% Sin Especificar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05250"/>
            <a:ext cx="30797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Una alta proporción de ofertas no detalla el nivel de experiencia de forma estandarizada, requiriendo inferir requisitos mediante las descripciones.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828925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6075" y="3476625"/>
            <a:ext cx="21802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Datos Incompletos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3905250"/>
            <a:ext cx="30797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Se identificaron 208 registros con descripciones crudas nulas y 321 sin años de experiencia explicitados en el origen de datos.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525" y="2828925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2525" y="3476625"/>
            <a:ext cx="204025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Sesgo Geográfico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905250"/>
            <a:ext cx="30797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Lato"/>
              </a:rPr>
              <a:t>Predominio de convocatorias provenientes de LinkedIn y portales mayoritariamente de Estados Unidos o modalidades 100% remotas.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2943225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662" y="2943225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6825" y="2943225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Riesgos y Limitaciones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36018"/>
            <a:ext cx="22860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536156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636293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150" y="2416968"/>
            <a:ext cx="827103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oppins"/>
              </a:rPr>
              <a:t>Qué descubrimos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150" y="2712243"/>
            <a:ext cx="78771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CBD5E1"/>
                </a:solidFill>
                <a:latin typeface="Lato"/>
              </a:rPr>
              <a:t>El mercado exige un promedio de 6 habilidades por vacante, donde SQL, Excel y BI dominan más del 70% de los requerimientos.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517106"/>
            <a:ext cx="103212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oppins"/>
              </a:rPr>
              <a:t>Qué significa para 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3812381"/>
            <a:ext cx="9829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CBD5E1"/>
                </a:solidFill>
                <a:latin typeface="Lato"/>
              </a:rPr>
              <a:t>TalentHub tiene la oportunidad clave de diseñar un programa altamente empleable enfocándose en proyectos prácticos y en el núcleo técnico más demandado.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617243"/>
            <a:ext cx="93411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oppins"/>
              </a:rPr>
              <a:t>Qué recomendamos 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912518"/>
            <a:ext cx="8896350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CBD5E1"/>
                </a:solidFill>
                <a:latin typeface="Lato"/>
              </a:rPr>
              <a:t>Lanzar el nuevo Bootcamp con 3 módulos técnicos centrales y un taller de construcción de portafolio aplicable a vacantes Entry </a:t>
            </a:r>
            <a:r>
              <a:rPr lang="es-AR" sz="1125" dirty="0">
                <a:solidFill>
                  <a:srgbClr val="CBD5E1"/>
                </a:solidFill>
                <a:latin typeface="Lato"/>
              </a:rPr>
              <a:t>y </a:t>
            </a:r>
            <a:r>
              <a:rPr lang="es-AR" sz="1125" dirty="0" err="1">
                <a:solidFill>
                  <a:srgbClr val="CBD5E1"/>
                </a:solidFill>
                <a:latin typeface="Lato"/>
              </a:rPr>
              <a:t>Middle</a:t>
            </a:r>
            <a:r>
              <a:rPr sz="1125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Resumen Ejecutivo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543</Words>
  <Application>Microsoft Office PowerPoint</Application>
  <PresentationFormat>Panorámica</PresentationFormat>
  <Paragraphs>60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Azathot</cp:lastModifiedBy>
  <cp:revision>3</cp:revision>
  <dcterms:created xsi:type="dcterms:W3CDTF">2013-01-27T09:14:16Z</dcterms:created>
  <dcterms:modified xsi:type="dcterms:W3CDTF">2026-08-05T23:55:46Z</dcterms:modified>
  <cp:category/>
</cp:coreProperties>
</file>